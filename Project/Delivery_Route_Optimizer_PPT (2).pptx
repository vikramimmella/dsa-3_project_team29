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Delivery Route Optimizer</a:t>
            </a:r>
          </a:p>
        </p:txBody>
      </p:sp>
      <p:sp>
        <p:nvSpPr>
          <p:cNvPr id="3" name="Subtitle 2"/>
          <p:cNvSpPr>
            <a:spLocks noGrp="1"/>
          </p:cNvSpPr>
          <p:nvPr>
            <p:ph type="subTitle" idx="1"/>
          </p:nvPr>
        </p:nvSpPr>
        <p:spPr>
          <a:xfrm>
            <a:off x="4158296" y="3344477"/>
            <a:ext cx="4551284" cy="1396014"/>
          </a:xfrm>
        </p:spPr>
        <p:txBody>
          <a:bodyPr/>
          <a:lstStyle/>
          <a:p>
            <a:r>
              <a:rPr lang="en-US" dirty="0">
                <a:solidFill>
                  <a:srgbClr val="7030A0"/>
                </a:solidFill>
                <a:latin typeface="Candara" panose="020E0502030303020204" pitchFamily="34" charset="0"/>
              </a:rPr>
              <a:t>Team Members</a:t>
            </a:r>
          </a:p>
          <a:p>
            <a:r>
              <a:rPr lang="en-US" dirty="0">
                <a:solidFill>
                  <a:srgbClr val="7030A0"/>
                </a:solidFill>
                <a:latin typeface="Candara" panose="020E0502030303020204" pitchFamily="34" charset="0"/>
              </a:rPr>
              <a:t>Challa Goutham Teja - 2520090225</a:t>
            </a:r>
          </a:p>
          <a:p>
            <a:r>
              <a:rPr lang="en-US" dirty="0">
                <a:solidFill>
                  <a:srgbClr val="7030A0"/>
                </a:solidFill>
                <a:latin typeface="Candara" panose="020E0502030303020204" pitchFamily="34" charset="0"/>
              </a:rPr>
              <a:t>Immella Vikram - 2520090118</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spcAft>
                <a:spcPts val="800"/>
              </a:spcAft>
            </a:pPr>
            <a:r>
              <a:rPr lang="en-IN" sz="2000" b="1" dirty="0"/>
              <a:t>Mrs. Ch. Anitha </a:t>
            </a:r>
          </a:p>
          <a:p>
            <a:pPr>
              <a:spcAft>
                <a:spcPts val="800"/>
              </a:spcAft>
            </a:pPr>
            <a:r>
              <a:rPr lang="en-IN" sz="2000" b="1" dirty="0"/>
              <a:t>Asst. Professor, CS&amp;IT</a:t>
            </a:r>
            <a:endParaRPr lang="en-US" sz="2000" b="1"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Rectangle 3"/>
          <p:cNvSpPr/>
          <p:nvPr/>
        </p:nvSpPr>
        <p:spPr>
          <a:xfrm>
            <a:off x="0" y="868680"/>
            <a:ext cx="3154680" cy="224028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51560"/>
            <a:ext cx="10881360" cy="5029200"/>
          </a:xfrm>
          <a:prstGeom prst="rect">
            <a:avLst/>
          </a:prstGeom>
          <a:noFill/>
        </p:spPr>
        <p:txBody>
          <a:bodyPr wrap="square">
            <a:spAutoFit/>
          </a:bodyPr>
          <a:lstStyle/>
          <a:p>
            <a:pPr algn="l">
              <a:lnSpc>
                <a:spcPct val="118000"/>
              </a:lnSpc>
              <a:spcAft>
                <a:spcPts val="1000"/>
              </a:spcAft>
            </a:pPr>
            <a:r>
              <a:rPr sz="1550">
                <a:solidFill>
                  <a:srgbClr val="333333"/>
                </a:solidFill>
                <a:latin typeface="Calibri"/>
              </a:rPr>
              <a:t>The Delivery Route Optimizer is an efficient solution designed to find the best possible routes for delivering packages to multiple locations while minimizing travel distance and delivery time. In modern delivery and logistics systems, selecting an efficient route is important for reducing fuel consumption, transportation costs, and delays.</a:t>
            </a:r>
          </a:p>
          <a:p>
            <a:pPr algn="l">
              <a:lnSpc>
                <a:spcPct val="118000"/>
              </a:lnSpc>
              <a:spcAft>
                <a:spcPts val="1000"/>
              </a:spcAft>
            </a:pPr>
            <a:r>
              <a:rPr sz="1550">
                <a:solidFill>
                  <a:srgbClr val="333333"/>
                </a:solidFill>
                <a:latin typeface="Calibri"/>
              </a:rPr>
              <a:t>This project represents delivery locations as nodes and the roads connecting them as edges in a graph. The system uses suitable data structures and graph algorithms to analyse different routes and identify the most efficient path between locations. Dijkstra's algorithm is used to find the shortest path based on distance or travel cost, while data structures such as graphs, adjacency lists, and priority queues help in storing and processing route information efficiently.</a:t>
            </a:r>
          </a:p>
          <a:p>
            <a:pPr algn="l">
              <a:lnSpc>
                <a:spcPct val="118000"/>
              </a:lnSpc>
              <a:spcAft>
                <a:spcPts val="1000"/>
              </a:spcAft>
            </a:pPr>
            <a:r>
              <a:rPr sz="1550">
                <a:solidFill>
                  <a:srgbClr val="333333"/>
                </a:solidFill>
                <a:latin typeface="Calibri"/>
              </a:rPr>
              <a:t>The system can handle multiple delivery locations and determine an optimized sequence of routes for the delivery vehicle. By reducing unnecessary travel and selecting shorter paths, the proposed solution improves delivery efficiency and saves time and resources — demonstrating the practical application of data structures and graph algorithms to real-world transportation and logistics problems.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Rectangle 3"/>
          <p:cNvSpPr/>
          <p:nvPr/>
        </p:nvSpPr>
        <p:spPr>
          <a:xfrm>
            <a:off x="0" y="868680"/>
            <a:ext cx="3154680" cy="224028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51560"/>
            <a:ext cx="10881360" cy="4937760"/>
          </a:xfrm>
          <a:prstGeom prst="rect">
            <a:avLst/>
          </a:prstGeom>
          <a:noFill/>
        </p:spPr>
        <p:txBody>
          <a:bodyPr wrap="square">
            <a:spAutoFit/>
          </a:bodyPr>
          <a:lstStyle/>
          <a:p>
            <a:pPr marL="228600" indent="-228600">
              <a:lnSpc>
                <a:spcPct val="115000"/>
              </a:lnSpc>
              <a:spcAft>
                <a:spcPts val="1400"/>
              </a:spcAft>
              <a:buClr>
                <a:srgbClr val="C00000"/>
              </a:buClr>
              <a:buFont typeface="Arial"/>
              <a:buChar char="▪"/>
            </a:pPr>
            <a:r>
              <a:rPr sz="1700">
                <a:solidFill>
                  <a:srgbClr val="333333"/>
                </a:solidFill>
                <a:latin typeface="Calibri"/>
              </a:rPr>
              <a:t>Efficient package delivery is a core challenge in modern logistics — choosing a poor route wastes fuel, time, and money.</a:t>
            </a:r>
          </a:p>
          <a:p>
            <a:pPr marL="228600" indent="-228600">
              <a:lnSpc>
                <a:spcPct val="115000"/>
              </a:lnSpc>
              <a:spcAft>
                <a:spcPts val="1400"/>
              </a:spcAft>
              <a:buClr>
                <a:srgbClr val="C00000"/>
              </a:buClr>
              <a:buFont typeface="Arial"/>
              <a:buChar char="▪"/>
            </a:pPr>
            <a:r>
              <a:rPr sz="1700">
                <a:solidFill>
                  <a:srgbClr val="333333"/>
                </a:solidFill>
                <a:latin typeface="Calibri"/>
              </a:rPr>
              <a:t>Delivery services must plan routes across many locations while keeping travel distance and delivery time as low as possible.</a:t>
            </a:r>
          </a:p>
          <a:p>
            <a:pPr marL="228600" indent="-228600">
              <a:lnSpc>
                <a:spcPct val="115000"/>
              </a:lnSpc>
              <a:spcAft>
                <a:spcPts val="1400"/>
              </a:spcAft>
              <a:buClr>
                <a:srgbClr val="C00000"/>
              </a:buClr>
              <a:buFont typeface="Arial"/>
              <a:buChar char="▪"/>
            </a:pPr>
            <a:r>
              <a:rPr sz="1700">
                <a:solidFill>
                  <a:srgbClr val="333333"/>
                </a:solidFill>
                <a:latin typeface="Calibri"/>
              </a:rPr>
              <a:t>This project models the problem using graph theory: each delivery location is a node, and each road connecting two locations is a weighted edge (distance / travel cost).</a:t>
            </a:r>
          </a:p>
          <a:p>
            <a:pPr marL="228600" indent="-228600">
              <a:lnSpc>
                <a:spcPct val="115000"/>
              </a:lnSpc>
              <a:spcAft>
                <a:spcPts val="1400"/>
              </a:spcAft>
              <a:buClr>
                <a:srgbClr val="C00000"/>
              </a:buClr>
              <a:buFont typeface="Arial"/>
              <a:buChar char="▪"/>
            </a:pPr>
            <a:r>
              <a:rPr sz="1700">
                <a:solidFill>
                  <a:srgbClr val="333333"/>
                </a:solidFill>
                <a:latin typeface="Calibri"/>
              </a:rPr>
              <a:t>Suitable data structures — graphs, adjacency lists, and priority queues — are used to store and process this network efficiently.</a:t>
            </a:r>
          </a:p>
          <a:p>
            <a:pPr marL="228600" indent="-228600">
              <a:lnSpc>
                <a:spcPct val="115000"/>
              </a:lnSpc>
              <a:spcAft>
                <a:spcPts val="1400"/>
              </a:spcAft>
              <a:buClr>
                <a:srgbClr val="C00000"/>
              </a:buClr>
              <a:buFont typeface="Arial"/>
              <a:buChar char="▪"/>
            </a:pPr>
            <a:r>
              <a:rPr sz="1700">
                <a:solidFill>
                  <a:srgbClr val="333333"/>
                </a:solidFill>
                <a:latin typeface="Calibri"/>
              </a:rPr>
              <a:t>Dijkstra's shortest-path algorithm is applied to compute the most efficient route(s) from a starting depot to the required delivery points.</a:t>
            </a:r>
          </a:p>
          <a:p>
            <a:pPr marL="228600" indent="-228600">
              <a:lnSpc>
                <a:spcPct val="115000"/>
              </a:lnSpc>
              <a:spcAft>
                <a:spcPts val="1400"/>
              </a:spcAft>
              <a:buClr>
                <a:srgbClr val="C00000"/>
              </a:buClr>
              <a:buFont typeface="Arial"/>
              <a:buChar char="▪"/>
            </a:pPr>
            <a:r>
              <a:rPr sz="1700">
                <a:solidFill>
                  <a:srgbClr val="333333"/>
                </a:solidFill>
                <a:latin typeface="Calibri"/>
              </a:rPr>
              <a:t>The project connects directly to the DSA-3 course themes of graph algorithms and priority-queue-based optimisation, applied to a real transportation problem.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Rectangle 3"/>
          <p:cNvSpPr/>
          <p:nvPr/>
        </p:nvSpPr>
        <p:spPr>
          <a:xfrm>
            <a:off x="0" y="868680"/>
            <a:ext cx="3154680" cy="224028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51560"/>
            <a:ext cx="10881360" cy="4937760"/>
          </a:xfrm>
          <a:prstGeom prst="rect">
            <a:avLst/>
          </a:prstGeom>
          <a:noFill/>
        </p:spPr>
        <p:txBody>
          <a:bodyPr wrap="square">
            <a:spAutoFit/>
          </a:bodyPr>
          <a:lstStyle/>
          <a:p>
            <a:pPr marL="228600" indent="-228600">
              <a:lnSpc>
                <a:spcPct val="115000"/>
              </a:lnSpc>
              <a:spcAft>
                <a:spcPts val="1200"/>
              </a:spcAft>
              <a:buClr>
                <a:srgbClr val="C00000"/>
              </a:buClr>
              <a:buFont typeface="Arial"/>
              <a:buChar char="▪"/>
            </a:pPr>
            <a:r>
              <a:rPr sz="1600">
                <a:solidFill>
                  <a:srgbClr val="333333"/>
                </a:solidFill>
                <a:latin typeface="Calibri"/>
              </a:rPr>
              <a:t>Dijkstra's Algorithm — the classical single-source shortest-path algorithm for graphs with non-negative edge weights; forms the core of most route-planning systems.</a:t>
            </a:r>
          </a:p>
          <a:p>
            <a:pPr marL="228600" indent="-228600">
              <a:lnSpc>
                <a:spcPct val="115000"/>
              </a:lnSpc>
              <a:spcAft>
                <a:spcPts val="1200"/>
              </a:spcAft>
              <a:buClr>
                <a:srgbClr val="C00000"/>
              </a:buClr>
              <a:buFont typeface="Arial"/>
              <a:buChar char="▪"/>
            </a:pPr>
            <a:r>
              <a:rPr sz="1600">
                <a:solidFill>
                  <a:srgbClr val="333333"/>
                </a:solidFill>
                <a:latin typeface="Calibri"/>
              </a:rPr>
              <a:t>Bellman-Ford Algorithm — handles graphs with negative edge weights, at the cost of higher time complexity; useful when cost values can be negative.</a:t>
            </a:r>
          </a:p>
          <a:p>
            <a:pPr marL="228600" indent="-228600">
              <a:lnSpc>
                <a:spcPct val="115000"/>
              </a:lnSpc>
              <a:spcAft>
                <a:spcPts val="1200"/>
              </a:spcAft>
              <a:buClr>
                <a:srgbClr val="C00000"/>
              </a:buClr>
              <a:buFont typeface="Arial"/>
              <a:buChar char="▪"/>
            </a:pPr>
            <a:r>
              <a:rPr sz="1600">
                <a:solidFill>
                  <a:srgbClr val="333333"/>
                </a:solidFill>
                <a:latin typeface="Calibri"/>
              </a:rPr>
              <a:t>A* Search — a heuristic-guided extension of Dijkstra's algorithm, widely used in GPS navigation systems (e.g. Google Maps) for faster point-to-point routing.</a:t>
            </a:r>
          </a:p>
          <a:p>
            <a:pPr marL="228600" indent="-228600">
              <a:lnSpc>
                <a:spcPct val="115000"/>
              </a:lnSpc>
              <a:spcAft>
                <a:spcPts val="1200"/>
              </a:spcAft>
              <a:buClr>
                <a:srgbClr val="C00000"/>
              </a:buClr>
              <a:buFont typeface="Arial"/>
              <a:buChar char="▪"/>
            </a:pPr>
            <a:r>
              <a:rPr sz="1600">
                <a:solidFill>
                  <a:srgbClr val="333333"/>
                </a:solidFill>
                <a:latin typeface="Calibri"/>
              </a:rPr>
              <a:t>Travelling Salesman Problem (TSP) / Vehicle Routing Problem (VRP) — the multi-stop delivery problem is related to these NP-hard problems, commonly solved in practice using heuristic or approximation methods.</a:t>
            </a:r>
          </a:p>
          <a:p>
            <a:pPr marL="228600" indent="-228600">
              <a:lnSpc>
                <a:spcPct val="115000"/>
              </a:lnSpc>
              <a:spcAft>
                <a:spcPts val="1200"/>
              </a:spcAft>
              <a:buClr>
                <a:srgbClr val="C00000"/>
              </a:buClr>
              <a:buFont typeface="Arial"/>
              <a:buChar char="▪"/>
            </a:pPr>
            <a:r>
              <a:rPr sz="1600">
                <a:solidFill>
                  <a:srgbClr val="333333"/>
                </a:solidFill>
                <a:latin typeface="Calibri"/>
              </a:rPr>
              <a:t>Data structure choices — adjacency lists are preferred for sparse road networks, and a priority queue (min-heap) allows Dijkstra's algorithm to repeatedly select the closest unvisited location efficiently.</a:t>
            </a:r>
          </a:p>
          <a:p>
            <a:pPr marL="228600" indent="-228600">
              <a:lnSpc>
                <a:spcPct val="115000"/>
              </a:lnSpc>
              <a:spcAft>
                <a:spcPts val="1200"/>
              </a:spcAft>
              <a:buClr>
                <a:srgbClr val="C00000"/>
              </a:buClr>
              <a:buFont typeface="Arial"/>
              <a:buChar char="▪"/>
            </a:pPr>
            <a:r>
              <a:rPr sz="1600">
                <a:solidFill>
                  <a:srgbClr val="333333"/>
                </a:solidFill>
                <a:latin typeface="Calibri"/>
              </a:rPr>
              <a:t>Gap addressed — this project focuses on a clean, from-first-principles implementation of the graph + Dijkstra pipeline to clearly demonstrate the algorithmic concepts behind real-world routing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Rectangle 3"/>
          <p:cNvSpPr/>
          <p:nvPr/>
        </p:nvSpPr>
        <p:spPr>
          <a:xfrm>
            <a:off x="0" y="868680"/>
            <a:ext cx="3154680" cy="224028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005840"/>
            <a:ext cx="2377440" cy="36576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Problem Statement</a:t>
            </a:r>
          </a:p>
        </p:txBody>
      </p:sp>
      <p:sp>
        <p:nvSpPr>
          <p:cNvPr id="6" name="TextBox 5"/>
          <p:cNvSpPr txBox="1"/>
          <p:nvPr/>
        </p:nvSpPr>
        <p:spPr>
          <a:xfrm>
            <a:off x="640080" y="1508760"/>
            <a:ext cx="10881360" cy="1188720"/>
          </a:xfrm>
          <a:prstGeom prst="rect">
            <a:avLst/>
          </a:prstGeom>
          <a:noFill/>
        </p:spPr>
        <p:txBody>
          <a:bodyPr wrap="square">
            <a:spAutoFit/>
          </a:bodyPr>
          <a:lstStyle/>
          <a:p>
            <a:pPr algn="l">
              <a:lnSpc>
                <a:spcPct val="120000"/>
              </a:lnSpc>
              <a:spcAft>
                <a:spcPts val="1000"/>
              </a:spcAft>
            </a:pPr>
            <a:r>
              <a:rPr sz="1550">
                <a:solidFill>
                  <a:srgbClr val="333333"/>
                </a:solidFill>
                <a:latin typeface="Calibri"/>
              </a:rPr>
              <a:t>Given a set of delivery locations connected by roads with associated distances / travel costs, determine the most efficient route for a delivery vehicle to reach the required locations from a central depot, minimizing total travel distance and delivery time.</a:t>
            </a:r>
          </a:p>
        </p:txBody>
      </p:sp>
      <p:sp>
        <p:nvSpPr>
          <p:cNvPr id="7" name="Rounded Rectangle 6"/>
          <p:cNvSpPr/>
          <p:nvPr/>
        </p:nvSpPr>
        <p:spPr>
          <a:xfrm>
            <a:off x="640080" y="2788920"/>
            <a:ext cx="1828800" cy="36576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Objectives</a:t>
            </a:r>
          </a:p>
        </p:txBody>
      </p:sp>
      <p:sp>
        <p:nvSpPr>
          <p:cNvPr id="8" name="TextBox 7"/>
          <p:cNvSpPr txBox="1"/>
          <p:nvPr/>
        </p:nvSpPr>
        <p:spPr>
          <a:xfrm>
            <a:off x="640080" y="3246120"/>
            <a:ext cx="10881360" cy="2743200"/>
          </a:xfrm>
          <a:prstGeom prst="rect">
            <a:avLst/>
          </a:prstGeom>
          <a:noFill/>
        </p:spPr>
        <p:txBody>
          <a:bodyPr wrap="square">
            <a:spAutoFit/>
          </a:bodyPr>
          <a:lstStyle/>
          <a:p>
            <a:pPr marL="228600" indent="-228600">
              <a:lnSpc>
                <a:spcPct val="115000"/>
              </a:lnSpc>
              <a:spcAft>
                <a:spcPts val="800"/>
              </a:spcAft>
              <a:buClr>
                <a:srgbClr val="C00000"/>
              </a:buClr>
              <a:buFont typeface="Arial"/>
              <a:buChar char="▪"/>
            </a:pPr>
            <a:r>
              <a:rPr sz="1550">
                <a:solidFill>
                  <a:srgbClr val="333333"/>
                </a:solidFill>
                <a:latin typeface="Calibri"/>
              </a:rPr>
              <a:t>Represent the delivery network as a weighted graph using adjacency lists.</a:t>
            </a:r>
          </a:p>
          <a:p>
            <a:pPr marL="228600" indent="-228600">
              <a:lnSpc>
                <a:spcPct val="115000"/>
              </a:lnSpc>
              <a:spcAft>
                <a:spcPts val="800"/>
              </a:spcAft>
              <a:buClr>
                <a:srgbClr val="C00000"/>
              </a:buClr>
              <a:buFont typeface="Arial"/>
              <a:buChar char="▪"/>
            </a:pPr>
            <a:r>
              <a:rPr sz="1550">
                <a:solidFill>
                  <a:srgbClr val="333333"/>
                </a:solidFill>
                <a:latin typeface="Calibri"/>
              </a:rPr>
              <a:t>Implement Dijkstra's algorithm to compute shortest paths from the depot to all delivery points.</a:t>
            </a:r>
          </a:p>
          <a:p>
            <a:pPr marL="228600" indent="-228600">
              <a:lnSpc>
                <a:spcPct val="115000"/>
              </a:lnSpc>
              <a:spcAft>
                <a:spcPts val="800"/>
              </a:spcAft>
              <a:buClr>
                <a:srgbClr val="C00000"/>
              </a:buClr>
              <a:buFont typeface="Arial"/>
              <a:buChar char="▪"/>
            </a:pPr>
            <a:r>
              <a:rPr sz="1550">
                <a:solidFill>
                  <a:srgbClr val="333333"/>
                </a:solidFill>
                <a:latin typeface="Calibri"/>
              </a:rPr>
              <a:t>Use a priority queue to efficiently select the next closest unvisited location.</a:t>
            </a:r>
          </a:p>
          <a:p>
            <a:pPr marL="228600" indent="-228600">
              <a:lnSpc>
                <a:spcPct val="115000"/>
              </a:lnSpc>
              <a:spcAft>
                <a:spcPts val="800"/>
              </a:spcAft>
              <a:buClr>
                <a:srgbClr val="C00000"/>
              </a:buClr>
              <a:buFont typeface="Arial"/>
              <a:buChar char="▪"/>
            </a:pPr>
            <a:r>
              <a:rPr sz="1550">
                <a:solidFill>
                  <a:srgbClr val="333333"/>
                </a:solidFill>
                <a:latin typeface="Calibri"/>
              </a:rPr>
              <a:t>Determine an optimized delivery sequence covering multiple locations.</a:t>
            </a:r>
          </a:p>
          <a:p>
            <a:pPr marL="228600" indent="-228600">
              <a:lnSpc>
                <a:spcPct val="115000"/>
              </a:lnSpc>
              <a:spcAft>
                <a:spcPts val="800"/>
              </a:spcAft>
              <a:buClr>
                <a:srgbClr val="C00000"/>
              </a:buClr>
              <a:buFont typeface="Arial"/>
              <a:buChar char="▪"/>
            </a:pPr>
            <a:r>
              <a:rPr sz="1550">
                <a:solidFill>
                  <a:srgbClr val="333333"/>
                </a:solidFill>
                <a:latin typeface="Calibri"/>
              </a:rPr>
              <a:t>Compare the optimized route against a naive / unordered route selection.</a:t>
            </a:r>
          </a:p>
          <a:p>
            <a:pPr marL="228600" indent="-228600">
              <a:lnSpc>
                <a:spcPct val="115000"/>
              </a:lnSpc>
              <a:spcAft>
                <a:spcPts val="800"/>
              </a:spcAft>
              <a:buClr>
                <a:srgbClr val="C00000"/>
              </a:buClr>
              <a:buFont typeface="Arial"/>
              <a:buChar char="▪"/>
            </a:pPr>
            <a:r>
              <a:rPr sz="1550">
                <a:solidFill>
                  <a:srgbClr val="333333"/>
                </a:solidFill>
                <a:latin typeface="Calibri"/>
              </a:rPr>
              <a:t>Provide a simple interface to input locations and roads and view the computed route.</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Rounded Rectangle 3"/>
          <p:cNvSpPr/>
          <p:nvPr/>
        </p:nvSpPr>
        <p:spPr>
          <a:xfrm>
            <a:off x="3078327" y="960120"/>
            <a:ext cx="6035040" cy="530352"/>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400" b="1">
                <a:solidFill>
                  <a:srgbClr val="FFFFFF"/>
                </a:solidFill>
                <a:latin typeface="Calibri"/>
              </a:rPr>
              <a:t>Start</a:t>
            </a:r>
          </a:p>
        </p:txBody>
      </p:sp>
      <p:sp>
        <p:nvSpPr>
          <p:cNvPr id="5" name="Rectangle 4"/>
          <p:cNvSpPr/>
          <p:nvPr/>
        </p:nvSpPr>
        <p:spPr>
          <a:xfrm>
            <a:off x="3078327" y="1600200"/>
            <a:ext cx="6035040" cy="530352"/>
          </a:xfrm>
          <a:prstGeom prst="rect">
            <a:avLst/>
          </a:prstGeom>
          <a:solidFill>
            <a:srgbClr val="F5E8E8"/>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400" b="0">
                <a:solidFill>
                  <a:srgbClr val="333333"/>
                </a:solidFill>
                <a:latin typeface="Calibri"/>
              </a:rPr>
              <a:t>Input delivery locations and road network</a:t>
            </a:r>
          </a:p>
        </p:txBody>
      </p:sp>
      <p:sp>
        <p:nvSpPr>
          <p:cNvPr id="6" name="Down Arrow 5"/>
          <p:cNvSpPr/>
          <p:nvPr/>
        </p:nvSpPr>
        <p:spPr>
          <a:xfrm>
            <a:off x="6013551" y="1490472"/>
            <a:ext cx="164592" cy="109728"/>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078327" y="2240280"/>
            <a:ext cx="6035040" cy="530352"/>
          </a:xfrm>
          <a:prstGeom prst="rect">
            <a:avLst/>
          </a:prstGeom>
          <a:solidFill>
            <a:srgbClr val="F5E8E8"/>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400" b="0">
                <a:solidFill>
                  <a:srgbClr val="333333"/>
                </a:solidFill>
                <a:latin typeface="Calibri"/>
              </a:rPr>
              <a:t>Build weighted graph (adjacency list)</a:t>
            </a:r>
          </a:p>
        </p:txBody>
      </p:sp>
      <p:sp>
        <p:nvSpPr>
          <p:cNvPr id="8" name="Down Arrow 7"/>
          <p:cNvSpPr/>
          <p:nvPr/>
        </p:nvSpPr>
        <p:spPr>
          <a:xfrm>
            <a:off x="6013551" y="2130552"/>
            <a:ext cx="164592" cy="109728"/>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078327" y="2880360"/>
            <a:ext cx="6035040" cy="530352"/>
          </a:xfrm>
          <a:prstGeom prst="rect">
            <a:avLst/>
          </a:prstGeom>
          <a:solidFill>
            <a:srgbClr val="F5E8E8"/>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400" b="0">
                <a:solidFill>
                  <a:srgbClr val="333333"/>
                </a:solidFill>
                <a:latin typeface="Calibri"/>
              </a:rPr>
              <a:t>Select depot as source node</a:t>
            </a:r>
          </a:p>
        </p:txBody>
      </p:sp>
      <p:sp>
        <p:nvSpPr>
          <p:cNvPr id="10" name="Down Arrow 9"/>
          <p:cNvSpPr/>
          <p:nvPr/>
        </p:nvSpPr>
        <p:spPr>
          <a:xfrm>
            <a:off x="6013551" y="2770632"/>
            <a:ext cx="164592" cy="109728"/>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078327" y="3520440"/>
            <a:ext cx="6035040" cy="530352"/>
          </a:xfrm>
          <a:prstGeom prst="rect">
            <a:avLst/>
          </a:prstGeom>
          <a:solidFill>
            <a:srgbClr val="F5E8E8"/>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400" b="0">
                <a:solidFill>
                  <a:srgbClr val="333333"/>
                </a:solidFill>
                <a:latin typeface="Calibri"/>
              </a:rPr>
              <a:t>Apply Dijkstra's Algorithm using a priority queue</a:t>
            </a:r>
          </a:p>
        </p:txBody>
      </p:sp>
      <p:sp>
        <p:nvSpPr>
          <p:cNvPr id="12" name="Down Arrow 11"/>
          <p:cNvSpPr/>
          <p:nvPr/>
        </p:nvSpPr>
        <p:spPr>
          <a:xfrm>
            <a:off x="6013551" y="3410712"/>
            <a:ext cx="164592" cy="109728"/>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078327" y="4160520"/>
            <a:ext cx="6035040" cy="530352"/>
          </a:xfrm>
          <a:prstGeom prst="rect">
            <a:avLst/>
          </a:prstGeom>
          <a:solidFill>
            <a:srgbClr val="F5E8E8"/>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400" b="0">
                <a:solidFill>
                  <a:srgbClr val="333333"/>
                </a:solidFill>
                <a:latin typeface="Calibri"/>
              </a:rPr>
              <a:t>Compute shortest paths to all delivery locations</a:t>
            </a:r>
          </a:p>
        </p:txBody>
      </p:sp>
      <p:sp>
        <p:nvSpPr>
          <p:cNvPr id="14" name="Down Arrow 13"/>
          <p:cNvSpPr/>
          <p:nvPr/>
        </p:nvSpPr>
        <p:spPr>
          <a:xfrm>
            <a:off x="6013551" y="4050792"/>
            <a:ext cx="164592" cy="109728"/>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078327" y="4800600"/>
            <a:ext cx="6035040" cy="530352"/>
          </a:xfrm>
          <a:prstGeom prst="rect">
            <a:avLst/>
          </a:prstGeom>
          <a:solidFill>
            <a:srgbClr val="F5E8E8"/>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400" b="0">
                <a:solidFill>
                  <a:srgbClr val="333333"/>
                </a:solidFill>
                <a:latin typeface="Calibri"/>
              </a:rPr>
              <a:t>Determine optimized delivery sequence</a:t>
            </a:r>
          </a:p>
        </p:txBody>
      </p:sp>
      <p:sp>
        <p:nvSpPr>
          <p:cNvPr id="16" name="Down Arrow 15"/>
          <p:cNvSpPr/>
          <p:nvPr/>
        </p:nvSpPr>
        <p:spPr>
          <a:xfrm>
            <a:off x="6013551" y="4690872"/>
            <a:ext cx="164592" cy="109728"/>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078327" y="5440680"/>
            <a:ext cx="6035040" cy="530352"/>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400" b="1">
                <a:solidFill>
                  <a:srgbClr val="FFFFFF"/>
                </a:solidFill>
                <a:latin typeface="Calibri"/>
              </a:rPr>
              <a:t>Display optimal route and total distance</a:t>
            </a:r>
          </a:p>
        </p:txBody>
      </p:sp>
      <p:sp>
        <p:nvSpPr>
          <p:cNvPr id="18" name="Down Arrow 17"/>
          <p:cNvSpPr/>
          <p:nvPr/>
        </p:nvSpPr>
        <p:spPr>
          <a:xfrm>
            <a:off x="6013551" y="5330952"/>
            <a:ext cx="164592" cy="109728"/>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Rectangle 3"/>
          <p:cNvSpPr/>
          <p:nvPr/>
        </p:nvSpPr>
        <p:spPr>
          <a:xfrm>
            <a:off x="0" y="868680"/>
            <a:ext cx="3154680" cy="224028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005840"/>
            <a:ext cx="2743200" cy="36576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Sample Demonstration</a:t>
            </a:r>
          </a:p>
        </p:txBody>
      </p:sp>
      <p:sp>
        <p:nvSpPr>
          <p:cNvPr id="6" name="TextBox 5"/>
          <p:cNvSpPr txBox="1"/>
          <p:nvPr/>
        </p:nvSpPr>
        <p:spPr>
          <a:xfrm>
            <a:off x="640080" y="1508760"/>
            <a:ext cx="10881360" cy="822960"/>
          </a:xfrm>
          <a:prstGeom prst="rect">
            <a:avLst/>
          </a:prstGeom>
          <a:noFill/>
        </p:spPr>
        <p:txBody>
          <a:bodyPr wrap="square">
            <a:spAutoFit/>
          </a:bodyPr>
          <a:lstStyle/>
          <a:p>
            <a:pPr algn="l">
              <a:lnSpc>
                <a:spcPct val="120000"/>
              </a:lnSpc>
              <a:spcAft>
                <a:spcPts val="1000"/>
              </a:spcAft>
            </a:pPr>
            <a:r>
              <a:rPr sz="1450">
                <a:solidFill>
                  <a:srgbClr val="333333"/>
                </a:solidFill>
                <a:latin typeface="Calibri"/>
              </a:rPr>
              <a:t>The illustrative example below shows how the system computes shortest distances from a depot to nearby delivery points, and derives an optimized delivery sequence.</a:t>
            </a:r>
          </a:p>
        </p:txBody>
      </p:sp>
      <p:graphicFrame>
        <p:nvGraphicFramePr>
          <p:cNvPr id="7" name="Table 6"/>
          <p:cNvGraphicFramePr>
            <a:graphicFrameLocks noGrp="1"/>
          </p:cNvGraphicFramePr>
          <p:nvPr/>
        </p:nvGraphicFramePr>
        <p:xfrm>
          <a:off x="640080" y="2423160"/>
          <a:ext cx="8229600" cy="219456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38912">
                <a:tc>
                  <a:txBody>
                    <a:bodyPr/>
                    <a:lstStyle/>
                    <a:p>
                      <a:pPr algn="ctr"/>
                      <a:r>
                        <a:rPr sz="1300" b="1">
                          <a:solidFill>
                            <a:srgbClr val="FFFFFF"/>
                          </a:solidFill>
                          <a:latin typeface="Calibri"/>
                        </a:rPr>
                        <a:t>Delivery Point</a:t>
                      </a:r>
                    </a:p>
                  </a:txBody>
                  <a:tcPr anchor="ctr">
                    <a:solidFill>
                      <a:srgbClr val="C00000"/>
                    </a:solidFill>
                  </a:tcPr>
                </a:tc>
                <a:tc>
                  <a:txBody>
                    <a:bodyPr/>
                    <a:lstStyle/>
                    <a:p>
                      <a:pPr algn="ctr"/>
                      <a:r>
                        <a:rPr sz="1300" b="1">
                          <a:solidFill>
                            <a:srgbClr val="FFFFFF"/>
                          </a:solidFill>
                          <a:latin typeface="Calibri"/>
                        </a:rPr>
                        <a:t>Shortest Distance from Depot</a:t>
                      </a:r>
                    </a:p>
                  </a:txBody>
                  <a:tcPr anchor="ctr">
                    <a:solidFill>
                      <a:srgbClr val="C00000"/>
                    </a:solidFill>
                  </a:tcPr>
                </a:tc>
                <a:tc>
                  <a:txBody>
                    <a:bodyPr/>
                    <a:lstStyle/>
                    <a:p>
                      <a:pPr algn="ctr"/>
                      <a:r>
                        <a:rPr sz="1300" b="1">
                          <a:solidFill>
                            <a:srgbClr val="FFFFFF"/>
                          </a:solidFill>
                          <a:latin typeface="Calibri"/>
                        </a:rPr>
                        <a:t>Path Used</a:t>
                      </a:r>
                    </a:p>
                  </a:txBody>
                  <a:tcPr anchor="ctr">
                    <a:solidFill>
                      <a:srgbClr val="C00000"/>
                    </a:solidFill>
                  </a:tcPr>
                </a:tc>
                <a:extLst>
                  <a:ext uri="{0D108BD9-81ED-4DB2-BD59-A6C34878D82A}">
                    <a16:rowId xmlns:a16="http://schemas.microsoft.com/office/drawing/2014/main" val="10000"/>
                  </a:ext>
                </a:extLst>
              </a:tr>
              <a:tr h="438912">
                <a:tc>
                  <a:txBody>
                    <a:bodyPr/>
                    <a:lstStyle/>
                    <a:p>
                      <a:pPr algn="ctr"/>
                      <a:r>
                        <a:rPr sz="1300">
                          <a:solidFill>
                            <a:srgbClr val="333333"/>
                          </a:solidFill>
                          <a:latin typeface="Calibri"/>
                        </a:rPr>
                        <a:t>Point A</a:t>
                      </a:r>
                    </a:p>
                  </a:txBody>
                  <a:tcPr anchor="ctr">
                    <a:solidFill>
                      <a:srgbClr val="FAF3F3"/>
                    </a:solidFill>
                  </a:tcPr>
                </a:tc>
                <a:tc>
                  <a:txBody>
                    <a:bodyPr/>
                    <a:lstStyle/>
                    <a:p>
                      <a:pPr algn="ctr"/>
                      <a:r>
                        <a:rPr sz="1300">
                          <a:solidFill>
                            <a:srgbClr val="333333"/>
                          </a:solidFill>
                          <a:latin typeface="Calibri"/>
                        </a:rPr>
                        <a:t>4 km</a:t>
                      </a:r>
                    </a:p>
                  </a:txBody>
                  <a:tcPr anchor="ctr">
                    <a:solidFill>
                      <a:srgbClr val="FAF3F3"/>
                    </a:solidFill>
                  </a:tcPr>
                </a:tc>
                <a:tc>
                  <a:txBody>
                    <a:bodyPr/>
                    <a:lstStyle/>
                    <a:p>
                      <a:pPr algn="ctr"/>
                      <a:r>
                        <a:rPr sz="1300">
                          <a:solidFill>
                            <a:srgbClr val="333333"/>
                          </a:solidFill>
                          <a:latin typeface="Calibri"/>
                        </a:rPr>
                        <a:t>Depot -&gt; A</a:t>
                      </a:r>
                    </a:p>
                  </a:txBody>
                  <a:tcPr anchor="ctr">
                    <a:solidFill>
                      <a:srgbClr val="FAF3F3"/>
                    </a:solidFill>
                  </a:tcPr>
                </a:tc>
                <a:extLst>
                  <a:ext uri="{0D108BD9-81ED-4DB2-BD59-A6C34878D82A}">
                    <a16:rowId xmlns:a16="http://schemas.microsoft.com/office/drawing/2014/main" val="10001"/>
                  </a:ext>
                </a:extLst>
              </a:tr>
              <a:tr h="438912">
                <a:tc>
                  <a:txBody>
                    <a:bodyPr/>
                    <a:lstStyle/>
                    <a:p>
                      <a:pPr algn="ctr"/>
                      <a:r>
                        <a:rPr sz="1300">
                          <a:solidFill>
                            <a:srgbClr val="333333"/>
                          </a:solidFill>
                          <a:latin typeface="Calibri"/>
                        </a:rPr>
                        <a:t>Point B</a:t>
                      </a:r>
                    </a:p>
                  </a:txBody>
                  <a:tcPr anchor="ctr">
                    <a:solidFill>
                      <a:srgbClr val="FFFFFF"/>
                    </a:solidFill>
                  </a:tcPr>
                </a:tc>
                <a:tc>
                  <a:txBody>
                    <a:bodyPr/>
                    <a:lstStyle/>
                    <a:p>
                      <a:pPr algn="ctr"/>
                      <a:r>
                        <a:rPr sz="1300">
                          <a:solidFill>
                            <a:srgbClr val="333333"/>
                          </a:solidFill>
                          <a:latin typeface="Calibri"/>
                        </a:rPr>
                        <a:t>9 km</a:t>
                      </a:r>
                    </a:p>
                  </a:txBody>
                  <a:tcPr anchor="ctr">
                    <a:solidFill>
                      <a:srgbClr val="FFFFFF"/>
                    </a:solidFill>
                  </a:tcPr>
                </a:tc>
                <a:tc>
                  <a:txBody>
                    <a:bodyPr/>
                    <a:lstStyle/>
                    <a:p>
                      <a:pPr algn="ctr"/>
                      <a:r>
                        <a:rPr sz="1300">
                          <a:solidFill>
                            <a:srgbClr val="333333"/>
                          </a:solidFill>
                          <a:latin typeface="Calibri"/>
                        </a:rPr>
                        <a:t>Depot -&gt; A -&gt; B</a:t>
                      </a:r>
                    </a:p>
                  </a:txBody>
                  <a:tcPr anchor="ctr">
                    <a:solidFill>
                      <a:srgbClr val="FFFFFF"/>
                    </a:solidFill>
                  </a:tcPr>
                </a:tc>
                <a:extLst>
                  <a:ext uri="{0D108BD9-81ED-4DB2-BD59-A6C34878D82A}">
                    <a16:rowId xmlns:a16="http://schemas.microsoft.com/office/drawing/2014/main" val="10002"/>
                  </a:ext>
                </a:extLst>
              </a:tr>
              <a:tr h="438912">
                <a:tc>
                  <a:txBody>
                    <a:bodyPr/>
                    <a:lstStyle/>
                    <a:p>
                      <a:pPr algn="ctr"/>
                      <a:r>
                        <a:rPr sz="1300">
                          <a:solidFill>
                            <a:srgbClr val="333333"/>
                          </a:solidFill>
                          <a:latin typeface="Calibri"/>
                        </a:rPr>
                        <a:t>Point C</a:t>
                      </a:r>
                    </a:p>
                  </a:txBody>
                  <a:tcPr anchor="ctr">
                    <a:solidFill>
                      <a:srgbClr val="FAF3F3"/>
                    </a:solidFill>
                  </a:tcPr>
                </a:tc>
                <a:tc>
                  <a:txBody>
                    <a:bodyPr/>
                    <a:lstStyle/>
                    <a:p>
                      <a:pPr algn="ctr"/>
                      <a:r>
                        <a:rPr sz="1300">
                          <a:solidFill>
                            <a:srgbClr val="333333"/>
                          </a:solidFill>
                          <a:latin typeface="Calibri"/>
                        </a:rPr>
                        <a:t>7 km</a:t>
                      </a:r>
                    </a:p>
                  </a:txBody>
                  <a:tcPr anchor="ctr">
                    <a:solidFill>
                      <a:srgbClr val="FAF3F3"/>
                    </a:solidFill>
                  </a:tcPr>
                </a:tc>
                <a:tc>
                  <a:txBody>
                    <a:bodyPr/>
                    <a:lstStyle/>
                    <a:p>
                      <a:pPr algn="ctr"/>
                      <a:r>
                        <a:rPr sz="1300">
                          <a:solidFill>
                            <a:srgbClr val="333333"/>
                          </a:solidFill>
                          <a:latin typeface="Calibri"/>
                        </a:rPr>
                        <a:t>Depot -&gt; C</a:t>
                      </a:r>
                    </a:p>
                  </a:txBody>
                  <a:tcPr anchor="ctr">
                    <a:solidFill>
                      <a:srgbClr val="FAF3F3"/>
                    </a:solidFill>
                  </a:tcPr>
                </a:tc>
                <a:extLst>
                  <a:ext uri="{0D108BD9-81ED-4DB2-BD59-A6C34878D82A}">
                    <a16:rowId xmlns:a16="http://schemas.microsoft.com/office/drawing/2014/main" val="10003"/>
                  </a:ext>
                </a:extLst>
              </a:tr>
              <a:tr h="438912">
                <a:tc>
                  <a:txBody>
                    <a:bodyPr/>
                    <a:lstStyle/>
                    <a:p>
                      <a:pPr algn="ctr"/>
                      <a:r>
                        <a:rPr sz="1300">
                          <a:solidFill>
                            <a:srgbClr val="333333"/>
                          </a:solidFill>
                          <a:latin typeface="Calibri"/>
                        </a:rPr>
                        <a:t>Point D</a:t>
                      </a:r>
                    </a:p>
                  </a:txBody>
                  <a:tcPr anchor="ctr">
                    <a:solidFill>
                      <a:srgbClr val="FFFFFF"/>
                    </a:solidFill>
                  </a:tcPr>
                </a:tc>
                <a:tc>
                  <a:txBody>
                    <a:bodyPr/>
                    <a:lstStyle/>
                    <a:p>
                      <a:pPr algn="ctr"/>
                      <a:r>
                        <a:rPr sz="1300">
                          <a:solidFill>
                            <a:srgbClr val="333333"/>
                          </a:solidFill>
                          <a:latin typeface="Calibri"/>
                        </a:rPr>
                        <a:t>12 km</a:t>
                      </a:r>
                    </a:p>
                  </a:txBody>
                  <a:tcPr anchor="ctr">
                    <a:solidFill>
                      <a:srgbClr val="FFFFFF"/>
                    </a:solidFill>
                  </a:tcPr>
                </a:tc>
                <a:tc>
                  <a:txBody>
                    <a:bodyPr/>
                    <a:lstStyle/>
                    <a:p>
                      <a:pPr algn="ctr"/>
                      <a:r>
                        <a:rPr sz="1300">
                          <a:solidFill>
                            <a:srgbClr val="333333"/>
                          </a:solidFill>
                          <a:latin typeface="Calibri"/>
                        </a:rPr>
                        <a:t>Depot -&gt; C -&gt; D</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40080" y="4800600"/>
            <a:ext cx="10881360" cy="1463040"/>
          </a:xfrm>
          <a:prstGeom prst="rect">
            <a:avLst/>
          </a:prstGeom>
          <a:noFill/>
        </p:spPr>
        <p:txBody>
          <a:bodyPr wrap="square">
            <a:spAutoFit/>
          </a:bodyPr>
          <a:lstStyle/>
          <a:p>
            <a:pPr marL="228600" indent="-228600">
              <a:lnSpc>
                <a:spcPct val="115000"/>
              </a:lnSpc>
              <a:spcAft>
                <a:spcPts val="600"/>
              </a:spcAft>
              <a:buClr>
                <a:srgbClr val="C00000"/>
              </a:buClr>
              <a:buFont typeface="Arial"/>
              <a:buChar char="▪"/>
            </a:pPr>
            <a:r>
              <a:rPr sz="1400">
                <a:solidFill>
                  <a:srgbClr val="333333"/>
                </a:solidFill>
                <a:latin typeface="Calibri"/>
              </a:rPr>
              <a:t>The system correctly computes shortest paths using Dijkstra's algorithm with an adjacency-list graph and a priority queue.</a:t>
            </a:r>
          </a:p>
          <a:p>
            <a:pPr marL="228600" indent="-228600">
              <a:lnSpc>
                <a:spcPct val="115000"/>
              </a:lnSpc>
              <a:spcAft>
                <a:spcPts val="600"/>
              </a:spcAft>
              <a:buClr>
                <a:srgbClr val="C00000"/>
              </a:buClr>
              <a:buFont typeface="Arial"/>
              <a:buChar char="▪"/>
            </a:pPr>
            <a:r>
              <a:rPr sz="1400">
                <a:solidFill>
                  <a:srgbClr val="333333"/>
                </a:solidFill>
                <a:latin typeface="Calibri"/>
              </a:rPr>
              <a:t>The optimized delivery sequence reduces total travel distance compared to visiting locations in an arbitrary order.</a:t>
            </a:r>
          </a:p>
          <a:p>
            <a:pPr marL="228600" indent="-228600">
              <a:lnSpc>
                <a:spcPct val="115000"/>
              </a:lnSpc>
              <a:spcAft>
                <a:spcPts val="600"/>
              </a:spcAft>
              <a:buClr>
                <a:srgbClr val="C00000"/>
              </a:buClr>
              <a:buFont typeface="Arial"/>
              <a:buChar char="▪"/>
            </a:pPr>
            <a:r>
              <a:rPr sz="1400">
                <a:solidFill>
                  <a:srgbClr val="333333"/>
                </a:solidFill>
                <a:latin typeface="Calibri"/>
              </a:rPr>
              <a:t>The approach was tested on sample delivery networks of varying size and connectivity.</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Rectangle 3"/>
          <p:cNvSpPr/>
          <p:nvPr/>
        </p:nvSpPr>
        <p:spPr>
          <a:xfrm>
            <a:off x="0" y="868680"/>
            <a:ext cx="3154680" cy="224028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005840"/>
            <a:ext cx="2926080" cy="36576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Hardware Requirements</a:t>
            </a:r>
          </a:p>
        </p:txBody>
      </p:sp>
      <p:sp>
        <p:nvSpPr>
          <p:cNvPr id="6" name="TextBox 5"/>
          <p:cNvSpPr txBox="1"/>
          <p:nvPr/>
        </p:nvSpPr>
        <p:spPr>
          <a:xfrm>
            <a:off x="640080" y="1554480"/>
            <a:ext cx="5120640" cy="2926080"/>
          </a:xfrm>
          <a:prstGeom prst="rect">
            <a:avLst/>
          </a:prstGeom>
          <a:noFill/>
        </p:spPr>
        <p:txBody>
          <a:bodyPr wrap="square">
            <a:spAutoFit/>
          </a:bodyPr>
          <a:lstStyle/>
          <a:p>
            <a:pPr marL="228600" indent="-228600">
              <a:lnSpc>
                <a:spcPct val="115000"/>
              </a:lnSpc>
              <a:spcAft>
                <a:spcPts val="1000"/>
              </a:spcAft>
              <a:buClr>
                <a:srgbClr val="C00000"/>
              </a:buClr>
              <a:buFont typeface="Arial"/>
              <a:buChar char="▪"/>
            </a:pPr>
            <a:r>
              <a:rPr sz="1550">
                <a:solidFill>
                  <a:srgbClr val="333333"/>
                </a:solidFill>
                <a:latin typeface="Calibri"/>
              </a:rPr>
              <a:t>Standard PC / Laptop</a:t>
            </a:r>
          </a:p>
          <a:p>
            <a:pPr marL="228600" indent="-228600">
              <a:lnSpc>
                <a:spcPct val="115000"/>
              </a:lnSpc>
              <a:spcAft>
                <a:spcPts val="1000"/>
              </a:spcAft>
              <a:buClr>
                <a:srgbClr val="C00000"/>
              </a:buClr>
              <a:buFont typeface="Arial"/>
              <a:buChar char="▪"/>
            </a:pPr>
            <a:r>
              <a:rPr sz="1550">
                <a:solidFill>
                  <a:srgbClr val="333333"/>
                </a:solidFill>
                <a:latin typeface="Calibri"/>
              </a:rPr>
              <a:t>Dual-core processor or higher</a:t>
            </a:r>
          </a:p>
          <a:p>
            <a:pPr marL="228600" indent="-228600">
              <a:lnSpc>
                <a:spcPct val="115000"/>
              </a:lnSpc>
              <a:spcAft>
                <a:spcPts val="1000"/>
              </a:spcAft>
              <a:buClr>
                <a:srgbClr val="C00000"/>
              </a:buClr>
              <a:buFont typeface="Arial"/>
              <a:buChar char="▪"/>
            </a:pPr>
            <a:r>
              <a:rPr sz="1550">
                <a:solidFill>
                  <a:srgbClr val="333333"/>
                </a:solidFill>
                <a:latin typeface="Calibri"/>
              </a:rPr>
              <a:t>Minimum 4 GB RAM (8 GB recommended)</a:t>
            </a:r>
          </a:p>
          <a:p>
            <a:pPr marL="228600" indent="-228600">
              <a:lnSpc>
                <a:spcPct val="115000"/>
              </a:lnSpc>
              <a:spcAft>
                <a:spcPts val="1000"/>
              </a:spcAft>
              <a:buClr>
                <a:srgbClr val="C00000"/>
              </a:buClr>
              <a:buFont typeface="Arial"/>
              <a:buChar char="▪"/>
            </a:pPr>
            <a:r>
              <a:rPr sz="1550">
                <a:solidFill>
                  <a:srgbClr val="333333"/>
                </a:solidFill>
                <a:latin typeface="Calibri"/>
              </a:rPr>
              <a:t>Minimum 500 MB free disk space</a:t>
            </a:r>
          </a:p>
        </p:txBody>
      </p:sp>
      <p:sp>
        <p:nvSpPr>
          <p:cNvPr id="7" name="Rounded Rectangle 6"/>
          <p:cNvSpPr/>
          <p:nvPr/>
        </p:nvSpPr>
        <p:spPr>
          <a:xfrm>
            <a:off x="6126480" y="1005840"/>
            <a:ext cx="2926080" cy="36576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Software Requirements</a:t>
            </a:r>
          </a:p>
        </p:txBody>
      </p:sp>
      <p:sp>
        <p:nvSpPr>
          <p:cNvPr id="8" name="TextBox 7"/>
          <p:cNvSpPr txBox="1"/>
          <p:nvPr/>
        </p:nvSpPr>
        <p:spPr>
          <a:xfrm>
            <a:off x="6126480" y="1554480"/>
            <a:ext cx="5120640" cy="2926080"/>
          </a:xfrm>
          <a:prstGeom prst="rect">
            <a:avLst/>
          </a:prstGeom>
          <a:noFill/>
        </p:spPr>
        <p:txBody>
          <a:bodyPr wrap="square">
            <a:spAutoFit/>
          </a:bodyPr>
          <a:lstStyle/>
          <a:p>
            <a:pPr marL="228600" indent="-228600">
              <a:lnSpc>
                <a:spcPct val="115000"/>
              </a:lnSpc>
              <a:spcAft>
                <a:spcPts val="1000"/>
              </a:spcAft>
              <a:buClr>
                <a:srgbClr val="C00000"/>
              </a:buClr>
              <a:buFont typeface="Arial"/>
              <a:buChar char="▪"/>
            </a:pPr>
            <a:r>
              <a:rPr sz="1550">
                <a:solidFill>
                  <a:srgbClr val="333333"/>
                </a:solidFill>
                <a:latin typeface="Calibri"/>
              </a:rPr>
              <a:t>Programming language: Java / Python</a:t>
            </a:r>
          </a:p>
          <a:p>
            <a:pPr marL="228600" indent="-228600">
              <a:lnSpc>
                <a:spcPct val="115000"/>
              </a:lnSpc>
              <a:spcAft>
                <a:spcPts val="1000"/>
              </a:spcAft>
              <a:buClr>
                <a:srgbClr val="C00000"/>
              </a:buClr>
              <a:buFont typeface="Arial"/>
              <a:buChar char="▪"/>
            </a:pPr>
            <a:r>
              <a:rPr sz="1550">
                <a:solidFill>
                  <a:srgbClr val="333333"/>
                </a:solidFill>
                <a:latin typeface="Calibri"/>
              </a:rPr>
              <a:t>IDE: VS Code / Eclipse / IntelliJ IDEA</a:t>
            </a:r>
          </a:p>
          <a:p>
            <a:pPr marL="228600" indent="-228600">
              <a:lnSpc>
                <a:spcPct val="115000"/>
              </a:lnSpc>
              <a:spcAft>
                <a:spcPts val="1000"/>
              </a:spcAft>
              <a:buClr>
                <a:srgbClr val="C00000"/>
              </a:buClr>
              <a:buFont typeface="Arial"/>
              <a:buChar char="▪"/>
            </a:pPr>
            <a:r>
              <a:rPr sz="1550">
                <a:solidFill>
                  <a:srgbClr val="333333"/>
                </a:solidFill>
                <a:latin typeface="Calibri"/>
              </a:rPr>
              <a:t>Operating System: Windows / Linux / macOS</a:t>
            </a:r>
          </a:p>
          <a:p>
            <a:pPr marL="228600" indent="-228600">
              <a:lnSpc>
                <a:spcPct val="115000"/>
              </a:lnSpc>
              <a:spcAft>
                <a:spcPts val="1000"/>
              </a:spcAft>
              <a:buClr>
                <a:srgbClr val="C00000"/>
              </a:buClr>
              <a:buFont typeface="Arial"/>
              <a:buChar char="▪"/>
            </a:pPr>
            <a:r>
              <a:rPr sz="1550">
                <a:solidFill>
                  <a:srgbClr val="333333"/>
                </a:solidFill>
                <a:latin typeface="Calibri"/>
              </a:rPr>
              <a:t>JDK or Python interpreter installed</a:t>
            </a:r>
          </a:p>
          <a:p>
            <a:pPr marL="228600" indent="-228600">
              <a:lnSpc>
                <a:spcPct val="115000"/>
              </a:lnSpc>
              <a:spcAft>
                <a:spcPts val="1000"/>
              </a:spcAft>
              <a:buClr>
                <a:srgbClr val="C00000"/>
              </a:buClr>
              <a:buFont typeface="Arial"/>
              <a:buChar char="▪"/>
            </a:pPr>
            <a:r>
              <a:rPr sz="1550">
                <a:solidFill>
                  <a:srgbClr val="333333"/>
                </a:solidFill>
                <a:latin typeface="Calibri"/>
              </a:rPr>
              <a:t>Git (optional, for version control)</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Rectangle 3"/>
          <p:cNvSpPr/>
          <p:nvPr/>
        </p:nvSpPr>
        <p:spPr>
          <a:xfrm>
            <a:off x="0" y="868680"/>
            <a:ext cx="3154680" cy="224028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188720"/>
            <a:ext cx="10881360" cy="4114800"/>
          </a:xfrm>
          <a:prstGeom prst="rect">
            <a:avLst/>
          </a:prstGeom>
          <a:noFill/>
        </p:spPr>
        <p:txBody>
          <a:bodyPr wrap="square">
            <a:spAutoFit/>
          </a:bodyPr>
          <a:lstStyle/>
          <a:p>
            <a:pPr algn="l">
              <a:lnSpc>
                <a:spcPct val="125000"/>
              </a:lnSpc>
              <a:spcAft>
                <a:spcPts val="1000"/>
              </a:spcAft>
            </a:pPr>
            <a:r>
              <a:rPr sz="1700">
                <a:solidFill>
                  <a:srgbClr val="333333"/>
                </a:solidFill>
                <a:latin typeface="Calibri"/>
              </a:rPr>
              <a:t>The Delivery Route Optimizer demonstrates a practical application of graph representations and Dijkstra's shortest-path algorithm to a real-world logistics problem. By modelling delivery locations and roads as a weighted graph, and using suitable data structures such as adjacency lists and priority queues, the system computes efficient delivery routes that reduce travel distance and time.</a:t>
            </a:r>
          </a:p>
          <a:p>
            <a:pPr algn="l">
              <a:lnSpc>
                <a:spcPct val="125000"/>
              </a:lnSpc>
              <a:spcAft>
                <a:spcPts val="1000"/>
              </a:spcAft>
            </a:pPr>
            <a:r>
              <a:rPr sz="1700">
                <a:solidFill>
                  <a:srgbClr val="333333"/>
                </a:solidFill>
                <a:latin typeface="Calibri"/>
              </a:rPr>
              <a:t>The project reinforces the core DSA-3 concepts of graph algorithms and priority-queue-based optimisation, while showing how a well-understood classical algorithm can meaningfully improve the efficiency of package delivery and transportation.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Rectangle 4"/>
          <p:cNvSpPr/>
          <p:nvPr/>
        </p:nvSpPr>
        <p:spPr>
          <a:xfrm>
            <a:off x="0" y="868680"/>
            <a:ext cx="3154680" cy="224028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51560"/>
            <a:ext cx="10881360" cy="4937760"/>
          </a:xfrm>
          <a:prstGeom prst="rect">
            <a:avLst/>
          </a:prstGeom>
          <a:noFill/>
        </p:spPr>
        <p:txBody>
          <a:bodyPr wrap="square">
            <a:spAutoFit/>
          </a:bodyPr>
          <a:lstStyle/>
          <a:p>
            <a:pPr marL="228600" indent="-228600">
              <a:lnSpc>
                <a:spcPct val="115000"/>
              </a:lnSpc>
              <a:spcAft>
                <a:spcPts val="1400"/>
              </a:spcAft>
              <a:buClr>
                <a:srgbClr val="C00000"/>
              </a:buClr>
              <a:buFont typeface="Arial"/>
              <a:buChar char="▪"/>
            </a:pPr>
            <a:r>
              <a:rPr sz="1650">
                <a:solidFill>
                  <a:srgbClr val="333333"/>
                </a:solidFill>
                <a:latin typeface="Calibri"/>
              </a:rPr>
              <a:t>Incorporate real-time traffic data for dynamic route re-computation.</a:t>
            </a:r>
          </a:p>
          <a:p>
            <a:pPr marL="228600" indent="-228600">
              <a:lnSpc>
                <a:spcPct val="115000"/>
              </a:lnSpc>
              <a:spcAft>
                <a:spcPts val="1400"/>
              </a:spcAft>
              <a:buClr>
                <a:srgbClr val="C00000"/>
              </a:buClr>
              <a:buFont typeface="Arial"/>
              <a:buChar char="▪"/>
            </a:pPr>
            <a:r>
              <a:rPr sz="1650">
                <a:solidFill>
                  <a:srgbClr val="333333"/>
                </a:solidFill>
                <a:latin typeface="Calibri"/>
              </a:rPr>
              <a:t>Extend to the Vehicle Routing Problem (VRP) to plan for multiple delivery vehicles.</a:t>
            </a:r>
          </a:p>
          <a:p>
            <a:pPr marL="228600" indent="-228600">
              <a:lnSpc>
                <a:spcPct val="115000"/>
              </a:lnSpc>
              <a:spcAft>
                <a:spcPts val="1400"/>
              </a:spcAft>
              <a:buClr>
                <a:srgbClr val="C00000"/>
              </a:buClr>
              <a:buFont typeface="Arial"/>
              <a:buChar char="▪"/>
            </a:pPr>
            <a:r>
              <a:rPr sz="1650">
                <a:solidFill>
                  <a:srgbClr val="333333"/>
                </a:solidFill>
                <a:latin typeface="Calibri"/>
              </a:rPr>
              <a:t>Apply heuristic / approximation algorithms (e.g. nearest-neighbour, genetic algorithms) for large-scale, multi-stop optimisation.</a:t>
            </a:r>
          </a:p>
          <a:p>
            <a:pPr marL="228600" indent="-228600">
              <a:lnSpc>
                <a:spcPct val="115000"/>
              </a:lnSpc>
              <a:spcAft>
                <a:spcPts val="1400"/>
              </a:spcAft>
              <a:buClr>
                <a:srgbClr val="C00000"/>
              </a:buClr>
              <a:buFont typeface="Arial"/>
              <a:buChar char="▪"/>
            </a:pPr>
            <a:r>
              <a:rPr sz="1650">
                <a:solidFill>
                  <a:srgbClr val="333333"/>
                </a:solidFill>
                <a:latin typeface="Calibri"/>
              </a:rPr>
              <a:t>Integrate GPS / map APIs for live geolocation and turn-by-turn navigation.</a:t>
            </a:r>
          </a:p>
          <a:p>
            <a:pPr marL="228600" indent="-228600">
              <a:lnSpc>
                <a:spcPct val="115000"/>
              </a:lnSpc>
              <a:spcAft>
                <a:spcPts val="1400"/>
              </a:spcAft>
              <a:buClr>
                <a:srgbClr val="C00000"/>
              </a:buClr>
              <a:buFont typeface="Arial"/>
              <a:buChar char="▪"/>
            </a:pPr>
            <a:r>
              <a:rPr sz="1650">
                <a:solidFill>
                  <a:srgbClr val="333333"/>
                </a:solidFill>
                <a:latin typeface="Calibri"/>
              </a:rPr>
              <a:t>Add a graphical, map-based interface for visualising delivery routes.</a:t>
            </a:r>
          </a:p>
          <a:p>
            <a:pPr marL="228600" indent="-228600">
              <a:lnSpc>
                <a:spcPct val="115000"/>
              </a:lnSpc>
              <a:spcAft>
                <a:spcPts val="1400"/>
              </a:spcAft>
              <a:buClr>
                <a:srgbClr val="C00000"/>
              </a:buClr>
              <a:buFont typeface="Arial"/>
              <a:buChar char="▪"/>
            </a:pPr>
            <a:r>
              <a:rPr sz="1650">
                <a:solidFill>
                  <a:srgbClr val="333333"/>
                </a:solidFill>
                <a:latin typeface="Calibri"/>
              </a:rPr>
              <a:t>Explore machine-learning-based delivery time prediction.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4" name="TextBox 3"/>
          <p:cNvSpPr txBox="1"/>
          <p:nvPr/>
        </p:nvSpPr>
        <p:spPr>
          <a:xfrm>
            <a:off x="2651760" y="4206240"/>
            <a:ext cx="6858000" cy="1097280"/>
          </a:xfrm>
          <a:prstGeom prst="rect">
            <a:avLst/>
          </a:prstGeom>
          <a:noFill/>
        </p:spPr>
        <p:txBody>
          <a:bodyPr wrap="square">
            <a:spAutoFit/>
          </a:bodyPr>
          <a:lstStyle/>
          <a:p>
            <a:pPr algn="ctr"/>
            <a:r>
              <a:rPr sz="1600" b="1">
                <a:solidFill>
                  <a:srgbClr val="C00000"/>
                </a:solidFill>
                <a:latin typeface="Calibri"/>
              </a:rPr>
              <a:t>Delivery Route Optimizer</a:t>
            </a:r>
          </a:p>
          <a:p>
            <a:pPr algn="ctr"/>
            <a:r>
              <a:rPr sz="1400">
                <a:solidFill>
                  <a:srgbClr val="333333"/>
                </a:solidFill>
                <a:latin typeface="Calibri"/>
              </a:rPr>
              <a:t>Challa Goutham Teja (2520090225)  |  Immella Vikram (2520090118)</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1120</Words>
  <Application>Microsoft Office PowerPoint</Application>
  <PresentationFormat>Widescreen</PresentationFormat>
  <Paragraphs>100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Candara</vt:lpstr>
      <vt:lpstr>Times New Roman</vt:lpstr>
      <vt:lpstr>Office Theme</vt:lpstr>
      <vt:lpstr>       Data Structures and Algorithms -3 (25CS2103E)  Delivery Route Optimizer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VIKRAM IMMELLA</cp:lastModifiedBy>
  <cp:revision>21</cp:revision>
  <dcterms:created xsi:type="dcterms:W3CDTF">2024-08-29T05:25:00Z</dcterms:created>
  <dcterms:modified xsi:type="dcterms:W3CDTF">2026-09-11T06:04:35Z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